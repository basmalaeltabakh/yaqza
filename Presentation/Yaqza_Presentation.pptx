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C78E05-868A-47F0-826F-100A92DABD54}">
  <a:tblStyle styleId="{52C78E05-868A-47F0-826F-100A92DABD5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43.png"/><Relationship Id="rId6" Type="http://schemas.openxmlformats.org/officeDocument/2006/relationships/image" Target="../media/image13.png"/><Relationship Id="rId7" Type="http://schemas.openxmlformats.org/officeDocument/2006/relationships/image" Target="../media/image30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5.png"/><Relationship Id="rId7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43.png"/><Relationship Id="rId7" Type="http://schemas.openxmlformats.org/officeDocument/2006/relationships/image" Target="../media/image6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31.png"/><Relationship Id="rId7" Type="http://schemas.openxmlformats.org/officeDocument/2006/relationships/image" Target="../media/image40.png"/><Relationship Id="rId8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Relationship Id="rId5" Type="http://schemas.openxmlformats.org/officeDocument/2006/relationships/image" Target="../media/image5.png"/><Relationship Id="rId6" Type="http://schemas.openxmlformats.org/officeDocument/2006/relationships/image" Target="../media/image42.png"/><Relationship Id="rId7" Type="http://schemas.openxmlformats.org/officeDocument/2006/relationships/image" Target="../media/image39.png"/><Relationship Id="rId8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basmalaeltabakh/Yaqza" TargetMode="External"/><Relationship Id="rId4" Type="http://schemas.openxmlformats.org/officeDocument/2006/relationships/hyperlink" Target="https://drive.google.com/file/d/1w5A5yjWVoAaffmux6cVtx_xhkwhAUij3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0" y="0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82296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0" y="475488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164592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0" y="950976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46888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0" y="1426464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329184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0" y="1901952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11480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0" y="2377440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93776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0" y="2852928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576072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0" y="3328416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58368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0" y="3803904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740664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0" y="4279392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822960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4754880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905256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0" y="5230368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11E3A">
              <a:alpha val="80000"/>
            </a:srgbClr>
          </a:solidFill>
          <a:ln cap="flat" cmpd="sng" w="12700">
            <a:solidFill>
              <a:srgbClr val="11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365760" y="502920"/>
            <a:ext cx="3749040" cy="1005840"/>
          </a:xfrm>
          <a:prstGeom prst="rect">
            <a:avLst/>
          </a:prstGeom>
          <a:noFill/>
          <a:ln>
            <a:noFill/>
          </a:ln>
          <a:effectLst>
            <a:outerShdw blurRad="254000" rotWithShape="0" algn="bl" dir="8100000" dist="50800">
              <a:srgbClr val="00D4FF">
                <a:alpha val="2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يقظة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365760" y="1371600"/>
            <a:ext cx="3749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Yaqza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365760" y="2148840"/>
            <a:ext cx="3749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AI-Powered Predictive Maintenance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150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b="0" i="0" lang="en-US" sz="150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gines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365760" y="3017520"/>
            <a:ext cx="1828800" cy="3200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365760" y="3200400"/>
            <a:ext cx="1051560" cy="256032"/>
          </a:xfrm>
          <a:prstGeom prst="rect">
            <a:avLst/>
          </a:prstGeom>
          <a:solidFill>
            <a:srgbClr val="1A5CFF">
              <a:alpha val="7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365760" y="32004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1536192" y="3200400"/>
            <a:ext cx="1051560" cy="256032"/>
          </a:xfrm>
          <a:prstGeom prst="rect">
            <a:avLst/>
          </a:prstGeom>
          <a:solidFill>
            <a:srgbClr val="1A5CFF">
              <a:alpha val="7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536192" y="32004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NASA CMAPSS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2706624" y="3200400"/>
            <a:ext cx="1051560" cy="256032"/>
          </a:xfrm>
          <a:prstGeom prst="rect">
            <a:avLst/>
          </a:prstGeom>
          <a:solidFill>
            <a:srgbClr val="1A5CFF">
              <a:alpha val="7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2706624" y="32004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RUL Prediction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65760" y="452628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github.com/basmalaeltabakh/Yaqza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903720" y="2560320"/>
            <a:ext cx="1234440" cy="18288"/>
          </a:xfrm>
          <a:prstGeom prst="rect">
            <a:avLst/>
          </a:prstGeom>
          <a:solidFill>
            <a:srgbClr val="0099CC">
              <a:alpha val="5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836765" y="2718732"/>
            <a:ext cx="872881" cy="855423"/>
          </a:xfrm>
          <a:prstGeom prst="rect">
            <a:avLst/>
          </a:prstGeom>
          <a:solidFill>
            <a:srgbClr val="0099CC">
              <a:alpha val="5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675120" y="2784348"/>
            <a:ext cx="18288" cy="1209751"/>
          </a:xfrm>
          <a:prstGeom prst="rect">
            <a:avLst/>
          </a:prstGeom>
          <a:solidFill>
            <a:srgbClr val="0099CC">
              <a:alpha val="5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640594" y="2718732"/>
            <a:ext cx="872881" cy="855423"/>
          </a:xfrm>
          <a:prstGeom prst="rect">
            <a:avLst/>
          </a:prstGeom>
          <a:solidFill>
            <a:srgbClr val="0099CC">
              <a:alpha val="5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212080" y="2560320"/>
            <a:ext cx="1234440" cy="18288"/>
          </a:xfrm>
          <a:prstGeom prst="rect">
            <a:avLst/>
          </a:prstGeom>
          <a:solidFill>
            <a:srgbClr val="0099CC">
              <a:alpha val="5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640594" y="1546485"/>
            <a:ext cx="872881" cy="855423"/>
          </a:xfrm>
          <a:prstGeom prst="rect">
            <a:avLst/>
          </a:prstGeom>
          <a:solidFill>
            <a:srgbClr val="0099CC">
              <a:alpha val="5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675120" y="1126541"/>
            <a:ext cx="18288" cy="1209751"/>
          </a:xfrm>
          <a:prstGeom prst="rect">
            <a:avLst/>
          </a:prstGeom>
          <a:solidFill>
            <a:srgbClr val="0099CC">
              <a:alpha val="5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836765" y="1546485"/>
            <a:ext cx="872881" cy="855423"/>
          </a:xfrm>
          <a:prstGeom prst="rect">
            <a:avLst/>
          </a:prstGeom>
          <a:solidFill>
            <a:srgbClr val="0099CC">
              <a:alpha val="50196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663440" y="4114800"/>
            <a:ext cx="1280160" cy="59436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4663440" y="411480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48h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663440" y="440740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Early Warning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172200" y="4114800"/>
            <a:ext cx="1280160" cy="59436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6172200" y="411480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91%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172200" y="440740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R² 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680960" y="4114800"/>
            <a:ext cx="1280160" cy="59436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7680960" y="411480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7680960" y="440740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11474" y="201176"/>
            <a:ext cx="1800300" cy="2925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17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500" lIns="112500" spcFirstLastPara="1" rIns="112500" wrap="square" tIns="11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411474" y="201176"/>
            <a:ext cx="180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84"/>
              <a:buFont typeface="Calibri"/>
              <a:buNone/>
            </a:pPr>
            <a:r>
              <a:rPr b="1" i="0" lang="en-US" sz="98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Unexpected Failures Are Costing Lives &amp; Billions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11480" y="1170432"/>
            <a:ext cx="2606040" cy="914400"/>
          </a:xfrm>
          <a:prstGeom prst="rect">
            <a:avLst/>
          </a:prstGeom>
          <a:solidFill>
            <a:srgbClr val="0D1730"/>
          </a:solidFill>
          <a:ln cap="flat" cmpd="sng" w="101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11480" y="1170432"/>
            <a:ext cx="2606040" cy="457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411480" y="1261872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$9.6B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22330" y="1645922"/>
            <a:ext cx="260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Annual aviation MRO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246120" y="1170432"/>
            <a:ext cx="2606040" cy="914400"/>
          </a:xfrm>
          <a:prstGeom prst="rect">
            <a:avLst/>
          </a:prstGeom>
          <a:solidFill>
            <a:srgbClr val="0D1730"/>
          </a:solidFill>
          <a:ln cap="flat" cmpd="sng" w="101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246120" y="1170432"/>
            <a:ext cx="2606040" cy="457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246120" y="1261872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72%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246120" y="1719072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Failures are unplanned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80760" y="1170432"/>
            <a:ext cx="2606040" cy="914400"/>
          </a:xfrm>
          <a:prstGeom prst="rect">
            <a:avLst/>
          </a:prstGeom>
          <a:solidFill>
            <a:srgbClr val="0D1730"/>
          </a:solidFill>
          <a:ln cap="flat" cmpd="sng" w="101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6080760" y="1170432"/>
            <a:ext cx="2606040" cy="457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6080760" y="1261872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5–7h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080760" y="1719072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Avg unplanned downtime per incident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411480" y="2286000"/>
            <a:ext cx="8321040" cy="438912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3682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/>
          <p:nvPr/>
        </p:nvSpPr>
        <p:spPr>
          <a:xfrm>
            <a:off x="908420" y="2327146"/>
            <a:ext cx="7589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Reactive </a:t>
            </a:r>
            <a:r>
              <a:rPr b="0" i="0" lang="en-US" sz="125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maintenance — engines fail before any warning is issued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411480" y="2816352"/>
            <a:ext cx="8321040" cy="438912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8986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960120" y="2880360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Over-maintenance wastes resources; under-maintenance causes failures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411480" y="3346704"/>
            <a:ext cx="8321040" cy="438912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429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/>
          <p:nvPr/>
        </p:nvSpPr>
        <p:spPr>
          <a:xfrm>
            <a:off x="960120" y="3410712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Safety risks — passengers and crew face preventable hazards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411480" y="3877056"/>
            <a:ext cx="8321040" cy="438912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39593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/>
          <p:nvPr/>
        </p:nvSpPr>
        <p:spPr>
          <a:xfrm>
            <a:off x="960120" y="394106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Unplanned downtime grounds fleets and disrupts thousands of travelers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411480" y="4407408"/>
            <a:ext cx="8321040" cy="438912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4897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/>
          <p:nvPr/>
        </p:nvSpPr>
        <p:spPr>
          <a:xfrm>
            <a:off x="960120" y="4471416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Manual inspections are slow, expensive, and inconsistent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11887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23774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356616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475488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594360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71323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83210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411475" y="201175"/>
            <a:ext cx="1726200" cy="2805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125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411475" y="201175"/>
            <a:ext cx="17262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44"/>
              <a:buFont typeface="Calibri"/>
              <a:buNone/>
            </a:pPr>
            <a:r>
              <a:rPr b="1" i="0" lang="en-US" sz="94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9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Predictive Maintenance Changes Everything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11480" y="1188720"/>
            <a:ext cx="2606040" cy="150876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411480" y="1188720"/>
            <a:ext cx="45720" cy="15087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3533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1005840" y="131673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Passenger Safety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521208" y="1783080"/>
            <a:ext cx="239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Detect anomalies before they become catastrophic failures.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246120" y="1188720"/>
            <a:ext cx="2606040" cy="150876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3246120" y="1188720"/>
            <a:ext cx="45720" cy="15087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3533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/>
        </p:nvSpPr>
        <p:spPr>
          <a:xfrm>
            <a:off x="3840480" y="131673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 Reduction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355848" y="1783080"/>
            <a:ext cx="239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Maintenance costs cut by up to 40% through precise scheduling.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080760" y="1188720"/>
            <a:ext cx="2606040" cy="150876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6080760" y="1188720"/>
            <a:ext cx="45720" cy="15087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3533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/>
          <p:nvPr/>
        </p:nvSpPr>
        <p:spPr>
          <a:xfrm>
            <a:off x="6675120" y="1261886"/>
            <a:ext cx="1920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Early Anomaly Detection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190488" y="1728230"/>
            <a:ext cx="239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Identify degradation patterns 48–72 hours before failure.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411480" y="2880360"/>
            <a:ext cx="2606040" cy="150876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411480" y="2880360"/>
            <a:ext cx="45720" cy="15087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60" y="30449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/>
          <p:nvPr/>
        </p:nvSpPr>
        <p:spPr>
          <a:xfrm>
            <a:off x="1005840" y="2953526"/>
            <a:ext cx="1920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 Lifetime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21208" y="3474720"/>
            <a:ext cx="23957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Optimised cycles extend service life significantly.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3246120" y="2880360"/>
            <a:ext cx="2606040" cy="150876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3246120" y="2880360"/>
            <a:ext cx="45720" cy="15087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30449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3840480" y="300837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Efficiency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3355848" y="3474720"/>
            <a:ext cx="23957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Data-driven decisions replace guesswork with precision.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6080760" y="2880360"/>
            <a:ext cx="2606040" cy="150876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6080760" y="2880360"/>
            <a:ext cx="45720" cy="15087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3640" y="30449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/>
          <p:nvPr/>
        </p:nvSpPr>
        <p:spPr>
          <a:xfrm>
            <a:off x="6675120" y="300837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Fleet-Wide Insights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6190488" y="3474720"/>
            <a:ext cx="239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Continuous monitoring across entire aircraft fleets at scale.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411474" y="201176"/>
            <a:ext cx="1800900" cy="2925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17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525" lIns="112525" spcFirstLastPara="1" rIns="112525" wrap="square" tIns="11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411474" y="201176"/>
            <a:ext cx="180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85"/>
              <a:buFont typeface="Calibri"/>
              <a:buNone/>
            </a:pPr>
            <a:r>
              <a:rPr b="1" i="0" lang="en-US" sz="985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9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411455" y="50297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Yaqza — Intelligent Engine Health Platform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411480" y="1170432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01  </a:t>
            </a:r>
            <a:r>
              <a:rPr b="0" i="0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AI-based system that predicts Remaining Useful Life (RUL) of turbofan engines</a:t>
            </a:r>
            <a:br>
              <a:rPr b="0" i="0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02  </a:t>
            </a:r>
            <a:r>
              <a:rPr b="0" i="0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Detects degradation patterns from 21 onboard sensor streams</a:t>
            </a:r>
            <a:br>
              <a:rPr b="0" i="0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03  </a:t>
            </a:r>
            <a:r>
              <a:rPr b="0" i="0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Enables proactive, scheduled maintenance — not reactive repair</a:t>
            </a:r>
            <a:br>
              <a:rPr b="0" i="0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04  </a:t>
            </a:r>
            <a:r>
              <a:rPr b="0" i="0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Trained on NASA CMAPSS benchmark with 3 state-of-the-art models</a:t>
            </a:r>
            <a:br>
              <a:rPr b="0" i="0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05  </a:t>
            </a:r>
            <a:r>
              <a:rPr b="0" i="0" lang="en-US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Delivers 48–72 h advance warning before predicted failure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4937760" y="1005840"/>
            <a:ext cx="3657600" cy="621792"/>
          </a:xfrm>
          <a:prstGeom prst="rect">
            <a:avLst/>
          </a:prstGeom>
          <a:solidFill>
            <a:srgbClr val="111E3A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7488" y="11338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/>
          <p:nvPr/>
        </p:nvSpPr>
        <p:spPr>
          <a:xfrm>
            <a:off x="5504688" y="106984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5504688" y="131673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21 real-time streams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8247888" y="11612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6720840" y="1627632"/>
            <a:ext cx="4572" cy="173736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4937760" y="1801368"/>
            <a:ext cx="3657600" cy="621792"/>
          </a:xfrm>
          <a:prstGeom prst="rect">
            <a:avLst/>
          </a:prstGeom>
          <a:solidFill>
            <a:srgbClr val="111E3A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7488" y="192938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/>
          <p:nvPr/>
        </p:nvSpPr>
        <p:spPr>
          <a:xfrm>
            <a:off x="5504688" y="186537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5504688" y="211226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Filter · Scale · Window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8247888" y="195681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6720840" y="2423160"/>
            <a:ext cx="4572" cy="173736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4937760" y="2596896"/>
            <a:ext cx="3657600" cy="621792"/>
          </a:xfrm>
          <a:prstGeom prst="rect">
            <a:avLst/>
          </a:prstGeom>
          <a:solidFill>
            <a:srgbClr val="111E3A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7488" y="27249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/>
          <p:nvPr/>
        </p:nvSpPr>
        <p:spPr>
          <a:xfrm>
            <a:off x="5504688" y="26609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5504688" y="290779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Rolling stats · Trends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247888" y="27523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6720840" y="3218688"/>
            <a:ext cx="4572" cy="173736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4937760" y="3392424"/>
            <a:ext cx="3657600" cy="621792"/>
          </a:xfrm>
          <a:prstGeom prst="rect">
            <a:avLst/>
          </a:prstGeom>
          <a:solidFill>
            <a:srgbClr val="111E3A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7488" y="35204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/>
          <p:nvPr/>
        </p:nvSpPr>
        <p:spPr>
          <a:xfrm>
            <a:off x="5504688" y="34564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DL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5504688" y="37033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LSTM · Transformer · XGB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8247888" y="35478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6720840" y="4014216"/>
            <a:ext cx="4572" cy="173736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4937760" y="4187952"/>
            <a:ext cx="3657600" cy="621792"/>
          </a:xfrm>
          <a:prstGeom prst="rect">
            <a:avLst/>
          </a:prstGeom>
          <a:solidFill>
            <a:srgbClr val="111E3A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7488" y="43159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/>
          <p:nvPr/>
        </p:nvSpPr>
        <p:spPr>
          <a:xfrm>
            <a:off x="5504688" y="42519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5504688" y="449884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Alert · Plan · 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8247888" y="43434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11887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23774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356616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475488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594360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71323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83210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411474" y="201176"/>
            <a:ext cx="1800900" cy="2925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17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525" lIns="112525" spcFirstLastPara="1" rIns="112525" wrap="square" tIns="11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411474" y="201176"/>
            <a:ext cx="180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85"/>
              <a:buFont typeface="Calibri"/>
              <a:buNone/>
            </a:pPr>
            <a:r>
              <a:rPr b="1" i="0" lang="en-US" sz="985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9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Pipeline — End to End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1670304" y="2286000"/>
            <a:ext cx="256032" cy="2743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448056" y="1170432"/>
            <a:ext cx="1295400" cy="260604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448056" y="1170432"/>
            <a:ext cx="1295400" cy="54864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/>
          <p:nvPr/>
        </p:nvSpPr>
        <p:spPr>
          <a:xfrm>
            <a:off x="448056" y="1170432"/>
            <a:ext cx="292608" cy="292608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466344" y="1920240"/>
            <a:ext cx="1258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466344" y="2249424"/>
            <a:ext cx="12588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NASA CMAPSS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 subsets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3057144" y="2286000"/>
            <a:ext cx="256032" cy="2743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1834896" y="1170432"/>
            <a:ext cx="1295400" cy="260604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1834896" y="1170432"/>
            <a:ext cx="1295400" cy="54864"/>
          </a:xfrm>
          <a:prstGeom prst="rect">
            <a:avLst/>
          </a:prstGeom>
          <a:solidFill>
            <a:srgbClr val="1A5CFF"/>
          </a:solidFill>
          <a:ln cap="flat" cmpd="sng" w="127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314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8"/>
          <p:cNvSpPr/>
          <p:nvPr/>
        </p:nvSpPr>
        <p:spPr>
          <a:xfrm>
            <a:off x="1834896" y="1170432"/>
            <a:ext cx="292608" cy="292608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1853184" y="1920240"/>
            <a:ext cx="1258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1853184" y="2249424"/>
            <a:ext cx="12588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Normalize · Filter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Windowing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4443984" y="2286000"/>
            <a:ext cx="256032" cy="2743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3221736" y="1170432"/>
            <a:ext cx="1295400" cy="260604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3221736" y="1170432"/>
            <a:ext cx="1295400" cy="54864"/>
          </a:xfrm>
          <a:prstGeom prst="rect">
            <a:avLst/>
          </a:prstGeom>
          <a:solidFill>
            <a:srgbClr val="0099CC"/>
          </a:solidFill>
          <a:ln cap="flat" cmpd="sng" w="12700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998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8"/>
          <p:cNvSpPr/>
          <p:nvPr/>
        </p:nvSpPr>
        <p:spPr>
          <a:xfrm>
            <a:off x="3221736" y="1170432"/>
            <a:ext cx="292608" cy="292608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3240024" y="1920240"/>
            <a:ext cx="1258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3240024" y="2249424"/>
            <a:ext cx="12588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Rolling stats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Degradation feats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5830824" y="2286000"/>
            <a:ext cx="256032" cy="2743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4608576" y="1170432"/>
            <a:ext cx="1295400" cy="260604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4608576" y="1170432"/>
            <a:ext cx="12954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682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8"/>
          <p:cNvSpPr/>
          <p:nvPr/>
        </p:nvSpPr>
        <p:spPr>
          <a:xfrm>
            <a:off x="4608576" y="1170432"/>
            <a:ext cx="292608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4626864" y="1920240"/>
            <a:ext cx="1258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4626864" y="2249424"/>
            <a:ext cx="12588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LSTM · Transformer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7217664" y="2286000"/>
            <a:ext cx="256032" cy="2743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5995416" y="1170432"/>
            <a:ext cx="1295400" cy="260604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5995416" y="1170432"/>
            <a:ext cx="1295400" cy="5486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366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8"/>
          <p:cNvSpPr/>
          <p:nvPr/>
        </p:nvSpPr>
        <p:spPr>
          <a:xfrm>
            <a:off x="5995416" y="1170432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6013704" y="1920240"/>
            <a:ext cx="1258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6013704" y="2249424"/>
            <a:ext cx="12588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Predict · 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Alert threshold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7382256" y="1170432"/>
            <a:ext cx="1295400" cy="260604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7382256" y="1170432"/>
            <a:ext cx="1295400" cy="548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8"/>
          <p:cNvSpPr/>
          <p:nvPr/>
        </p:nvSpPr>
        <p:spPr>
          <a:xfrm>
            <a:off x="7382256" y="1170432"/>
            <a:ext cx="292608" cy="2926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7400544" y="1920240"/>
            <a:ext cx="1258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7400544" y="2249424"/>
            <a:ext cx="12588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Visualise ·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Act proactively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411480" y="4023360"/>
            <a:ext cx="8321040" cy="685800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502920" y="4069080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Tech Stack: 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Python · PyTorch · scikit-learn · tsfresh · ROCKET · FastAPI · Streamlit · MLflow · ONNX · 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411475" y="201175"/>
            <a:ext cx="2139000" cy="3474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39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3675" lIns="133675" spcFirstLastPara="1" rIns="133675" wrap="square" tIns="13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411475" y="201175"/>
            <a:ext cx="213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70"/>
              <a:buFont typeface="Calibri"/>
              <a:buNone/>
            </a:pPr>
            <a:r>
              <a:rPr b="1" i="0" lang="en-US" sz="117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465005" y="706315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NASA CMAPSS — Turbofan Engine Degradation Dataset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373417" y="1392070"/>
            <a:ext cx="3657600" cy="80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373417" y="1410358"/>
            <a:ext cx="10059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1351826" y="1556662"/>
            <a:ext cx="27300" cy="475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1443265" y="1446934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Operating Subsets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1443265" y="1739542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FD001–FD004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373417" y="2324758"/>
            <a:ext cx="3657600" cy="80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373417" y="2343046"/>
            <a:ext cx="10059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21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1351826" y="2489350"/>
            <a:ext cx="27300" cy="475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1443265" y="2379622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 Channels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1443265" y="2672230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Temperature, pressure, speed…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373417" y="3257446"/>
            <a:ext cx="3657600" cy="80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373417" y="3275734"/>
            <a:ext cx="10059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~20K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1351826" y="3422038"/>
            <a:ext cx="27300" cy="475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9"/>
          <p:cNvSpPr/>
          <p:nvPr/>
        </p:nvSpPr>
        <p:spPr>
          <a:xfrm>
            <a:off x="1443265" y="331231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samples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1443265" y="3604918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Time-series sequences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373417" y="4190134"/>
            <a:ext cx="3657600" cy="80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373417" y="4208422"/>
            <a:ext cx="10059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100–260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1351826" y="4354726"/>
            <a:ext cx="27300" cy="475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1443265" y="4244998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engine lifetime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1443265" y="4537606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Cycles per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9845" y="1536193"/>
            <a:ext cx="45720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11887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23774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356616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475488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594360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71323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83210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411472" y="201179"/>
            <a:ext cx="2025900" cy="3291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32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600" lIns="126600" spcFirstLastPara="1" rIns="126600" wrap="square" tIns="12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411472" y="201179"/>
            <a:ext cx="202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8"/>
              <a:buFont typeface="Calibri"/>
              <a:buNone/>
            </a:pPr>
            <a:r>
              <a:rPr b="1" i="0" lang="en-US" sz="11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11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411455" y="59899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Cleaning &amp; Preparing the Sensor Streams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411480" y="1170432"/>
            <a:ext cx="3977640" cy="1078992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9961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0"/>
          <p:cNvSpPr/>
          <p:nvPr/>
        </p:nvSpPr>
        <p:spPr>
          <a:xfrm>
            <a:off x="411480" y="1170432"/>
            <a:ext cx="3977640" cy="36576"/>
          </a:xfrm>
          <a:prstGeom prst="rect">
            <a:avLst/>
          </a:prstGeom>
          <a:solidFill>
            <a:srgbClr val="1A5CFF"/>
          </a:solidFill>
          <a:ln cap="flat" cmpd="sng" w="127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1069848" y="126187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1. Zero-variance Filter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1069848" y="1591056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Remove 7 constant sensors (no information gain)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4617720" y="1170432"/>
            <a:ext cx="3977640" cy="1078992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49961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0"/>
          <p:cNvSpPr/>
          <p:nvPr/>
        </p:nvSpPr>
        <p:spPr>
          <a:xfrm>
            <a:off x="4617720" y="1170432"/>
            <a:ext cx="3977640" cy="36576"/>
          </a:xfrm>
          <a:prstGeom prst="rect">
            <a:avLst/>
          </a:prstGeom>
          <a:solidFill>
            <a:srgbClr val="1A5CFF"/>
          </a:solidFill>
          <a:ln cap="flat" cmpd="sng" w="127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5276088" y="126187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2. Per-engine Scaling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5276088" y="1591056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Subtract first-20-cycle baseline per engine to isolate degradation signal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411480" y="2404872"/>
            <a:ext cx="3977640" cy="1078992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1" name="Google Shape;35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273405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0"/>
          <p:cNvSpPr/>
          <p:nvPr/>
        </p:nvSpPr>
        <p:spPr>
          <a:xfrm>
            <a:off x="411480" y="2404872"/>
            <a:ext cx="3977640" cy="36576"/>
          </a:xfrm>
          <a:prstGeom prst="rect">
            <a:avLst/>
          </a:prstGeom>
          <a:solidFill>
            <a:srgbClr val="1A5CFF"/>
          </a:solidFill>
          <a:ln cap="flat" cmpd="sng" w="127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1069848" y="249631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3. Op-condition Clustering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1069848" y="2825496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K-Means (k=6) on FD002/FD004 to normalise multi-condition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4617720" y="2404872"/>
            <a:ext cx="3977640" cy="1078992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273405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0"/>
          <p:cNvSpPr/>
          <p:nvPr/>
        </p:nvSpPr>
        <p:spPr>
          <a:xfrm>
            <a:off x="4617720" y="2404872"/>
            <a:ext cx="3977640" cy="36576"/>
          </a:xfrm>
          <a:prstGeom prst="rect">
            <a:avLst/>
          </a:prstGeom>
          <a:solidFill>
            <a:srgbClr val="1A5CFF"/>
          </a:solidFill>
          <a:ln cap="flat" cmpd="sng" w="127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5276088" y="249631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4. RUL Clipping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5276088" y="2825496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Cap RUL at 135 cycles — piece-wise linear target for model focus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411480" y="3639312"/>
            <a:ext cx="3977640" cy="1078992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396849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0"/>
          <p:cNvSpPr/>
          <p:nvPr/>
        </p:nvSpPr>
        <p:spPr>
          <a:xfrm>
            <a:off x="411480" y="3639312"/>
            <a:ext cx="3977640" cy="36576"/>
          </a:xfrm>
          <a:prstGeom prst="rect">
            <a:avLst/>
          </a:prstGeom>
          <a:solidFill>
            <a:srgbClr val="1A5CFF"/>
          </a:solidFill>
          <a:ln cap="flat" cmpd="sng" w="127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1069848" y="373075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5. Sliding Window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1069848" y="4059936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30-cycle windows with stride=1 to create dense time-series sequences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4617720" y="3639312"/>
            <a:ext cx="3977640" cy="1078992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4880" y="396849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0"/>
          <p:cNvSpPr/>
          <p:nvPr/>
        </p:nvSpPr>
        <p:spPr>
          <a:xfrm>
            <a:off x="4617720" y="3639312"/>
            <a:ext cx="3977640" cy="36576"/>
          </a:xfrm>
          <a:prstGeom prst="rect">
            <a:avLst/>
          </a:prstGeom>
          <a:solidFill>
            <a:srgbClr val="1A5CFF"/>
          </a:solidFill>
          <a:ln cap="flat" cmpd="sng" w="127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5276088" y="373075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6. Train/Val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5276088" y="4059936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Per-engine chronological 80/20 split — no future leakage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11887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23774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356616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475488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594360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71323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83210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From Raw Sensors to Degradation Signatures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413830" y="1389957"/>
            <a:ext cx="3931800" cy="7497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413830" y="1389957"/>
            <a:ext cx="8229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B4A6"/>
                </a:solidFill>
                <a:latin typeface="Arial Black"/>
                <a:ea typeface="Arial Black"/>
                <a:cs typeface="Arial Black"/>
                <a:sym typeface="Arial Black"/>
              </a:rPr>
              <a:t>14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1188733" y="1549892"/>
            <a:ext cx="27300" cy="4755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1"/>
          <p:cNvSpPr/>
          <p:nvPr/>
        </p:nvSpPr>
        <p:spPr>
          <a:xfrm>
            <a:off x="1300798" y="1463109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sensors retained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1300798" y="1774005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After zero-variance filtering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413830" y="2304357"/>
            <a:ext cx="3931800" cy="7497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1"/>
          <p:cNvSpPr/>
          <p:nvPr/>
        </p:nvSpPr>
        <p:spPr>
          <a:xfrm>
            <a:off x="413830" y="2304357"/>
            <a:ext cx="8229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A5CFF"/>
                </a:solidFill>
                <a:latin typeface="Arial Black"/>
                <a:ea typeface="Arial Black"/>
                <a:cs typeface="Arial Black"/>
                <a:sym typeface="Arial Black"/>
              </a:rPr>
              <a:t>28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1188733" y="2459742"/>
            <a:ext cx="27300" cy="475500"/>
          </a:xfrm>
          <a:prstGeom prst="rect">
            <a:avLst/>
          </a:prstGeom>
          <a:solidFill>
            <a:srgbClr val="1A5CFF"/>
          </a:solidFill>
          <a:ln cap="flat" cmpd="sng" w="127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1300798" y="2377509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Rolling mean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1300798" y="2688405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5-cycle and 10-cycle windows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413830" y="3218757"/>
            <a:ext cx="3931800" cy="7497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413830" y="3218757"/>
            <a:ext cx="8229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99CC"/>
                </a:solidFill>
                <a:latin typeface="Arial Black"/>
                <a:ea typeface="Arial Black"/>
                <a:cs typeface="Arial Black"/>
                <a:sym typeface="Arial Black"/>
              </a:rPr>
              <a:t>28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1177371" y="3355842"/>
            <a:ext cx="27300" cy="475500"/>
          </a:xfrm>
          <a:prstGeom prst="rect">
            <a:avLst/>
          </a:prstGeom>
          <a:solidFill>
            <a:srgbClr val="0099CC"/>
          </a:solidFill>
          <a:ln cap="flat" cmpd="sng" w="12700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1"/>
          <p:cNvSpPr/>
          <p:nvPr/>
        </p:nvSpPr>
        <p:spPr>
          <a:xfrm>
            <a:off x="1300798" y="3291909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Rolling std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1300798" y="3602805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Variance captures instability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413830" y="4133157"/>
            <a:ext cx="3931800" cy="7497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413830" y="4133157"/>
            <a:ext cx="8229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40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1165858" y="4282242"/>
            <a:ext cx="27300" cy="4755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1300798" y="4206309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TSFresh features (PCA)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1300798" y="4517205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Statistical + ROCKET kernels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307593"/>
            <a:ext cx="43890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2"/>
          <p:cNvSpPr/>
          <p:nvPr/>
        </p:nvSpPr>
        <p:spPr>
          <a:xfrm>
            <a:off x="411473" y="201177"/>
            <a:ext cx="2025900" cy="3291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32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600" lIns="126600" spcFirstLastPara="1" rIns="126600" wrap="square" tIns="12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411473" y="201177"/>
            <a:ext cx="202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8"/>
              <a:buFont typeface="Calibri"/>
              <a:buNone/>
            </a:pPr>
            <a:r>
              <a:rPr b="1" i="0" lang="en-US" sz="11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ML / DL MODELS</a:t>
            </a:r>
            <a:endParaRPr b="0" i="0" sz="11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Three Competing Architectures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411480" y="1143000"/>
            <a:ext cx="2651760" cy="3749040"/>
          </a:xfrm>
          <a:prstGeom prst="rect">
            <a:avLst/>
          </a:prstGeom>
          <a:solidFill>
            <a:srgbClr val="0D1730"/>
          </a:solidFill>
          <a:ln cap="flat" cmpd="sng" w="114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411480" y="1143000"/>
            <a:ext cx="265176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2"/>
          <p:cNvSpPr/>
          <p:nvPr/>
        </p:nvSpPr>
        <p:spPr>
          <a:xfrm>
            <a:off x="502920" y="1261872"/>
            <a:ext cx="2468880" cy="219456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502920" y="12618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502920" y="1810507"/>
            <a:ext cx="2469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 Encoder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548640" y="2468880"/>
            <a:ext cx="23774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3 encoder layers</a:t>
            </a:r>
            <a:b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8 attention heads</a:t>
            </a:r>
            <a:b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Positional encoding</a:t>
            </a:r>
            <a:b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Pre-LayerNorm stability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502920" y="3419856"/>
            <a:ext cx="1188720" cy="475488"/>
          </a:xfrm>
          <a:prstGeom prst="rect">
            <a:avLst/>
          </a:prstGeom>
          <a:solidFill>
            <a:srgbClr val="080D1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1783080" y="3419856"/>
            <a:ext cx="1188720" cy="475488"/>
          </a:xfrm>
          <a:prstGeom prst="rect">
            <a:avLst/>
          </a:prstGeom>
          <a:solidFill>
            <a:srgbClr val="080D1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502920" y="341985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502920" y="362102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6.8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783080" y="341985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1783080" y="362102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0.91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502920" y="3986784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Parallelizable · Best accuracy · Attention interpretability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3246120" y="1143000"/>
            <a:ext cx="2651760" cy="3749040"/>
          </a:xfrm>
          <a:prstGeom prst="rect">
            <a:avLst/>
          </a:prstGeom>
          <a:solidFill>
            <a:srgbClr val="0D1730"/>
          </a:solidFill>
          <a:ln cap="flat" cmpd="sng" w="114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2"/>
          <p:cNvSpPr/>
          <p:nvPr/>
        </p:nvSpPr>
        <p:spPr>
          <a:xfrm>
            <a:off x="3246120" y="1143000"/>
            <a:ext cx="2651760" cy="54864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3337560" y="1261872"/>
            <a:ext cx="2468880" cy="219456"/>
          </a:xfrm>
          <a:prstGeom prst="rect">
            <a:avLst/>
          </a:prstGeom>
          <a:solidFill>
            <a:srgbClr val="00B4A6">
              <a:alpha val="25098"/>
            </a:srgbClr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3337560" y="12618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EDGE DEPLOY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3337560" y="1810507"/>
            <a:ext cx="2469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Improved LSTM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3383280" y="2468880"/>
            <a:ext cx="23774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3 stacked layers</a:t>
            </a:r>
            <a:b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Bidirectional option</a:t>
            </a:r>
            <a:b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Dropout 0.3</a:t>
            </a:r>
            <a:b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Layer normalisation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3337560" y="3419856"/>
            <a:ext cx="1188720" cy="475488"/>
          </a:xfrm>
          <a:prstGeom prst="rect">
            <a:avLst/>
          </a:prstGeom>
          <a:solidFill>
            <a:srgbClr val="080D1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4617720" y="3419856"/>
            <a:ext cx="1188720" cy="475488"/>
          </a:xfrm>
          <a:prstGeom prst="rect">
            <a:avLst/>
          </a:prstGeom>
          <a:solidFill>
            <a:srgbClr val="080D1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3337560" y="341985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3337560" y="362102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B4A6"/>
                </a:solidFill>
                <a:latin typeface="Arial Black"/>
                <a:ea typeface="Arial Black"/>
                <a:cs typeface="Arial Black"/>
                <a:sym typeface="Arial Black"/>
              </a:rPr>
              <a:t>7.2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4617720" y="341985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4617720" y="362102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B4A6"/>
                </a:solidFill>
                <a:latin typeface="Arial Black"/>
                <a:ea typeface="Arial Black"/>
                <a:cs typeface="Arial Black"/>
                <a:sym typeface="Arial Black"/>
              </a:rPr>
              <a:t>0.88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3337560" y="3986784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Lightweight · Suitable for edge · Proven on sequences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6080760" y="1143000"/>
            <a:ext cx="2651760" cy="3749040"/>
          </a:xfrm>
          <a:prstGeom prst="rect">
            <a:avLst/>
          </a:prstGeom>
          <a:solidFill>
            <a:srgbClr val="0D1730"/>
          </a:solidFill>
          <a:ln cap="flat" cmpd="sng" w="114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6080760" y="1143000"/>
            <a:ext cx="2651760" cy="548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6172200" y="1261872"/>
            <a:ext cx="2468880" cy="219456"/>
          </a:xfrm>
          <a:prstGeom prst="rect">
            <a:avLst/>
          </a:prstGeom>
          <a:solidFill>
            <a:srgbClr val="FFD166">
              <a:alpha val="25098"/>
            </a:srgbClr>
          </a:solidFill>
          <a:ln cap="flat" cmpd="sng" w="95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6172200" y="12618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INTERPRETABLE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6172200" y="1810557"/>
            <a:ext cx="2469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Baseline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6217920" y="2468880"/>
            <a:ext cx="23774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100 estimators</a:t>
            </a:r>
            <a:b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Max depth 6</a:t>
            </a:r>
            <a:b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Sequence flattening</a:t>
            </a:r>
            <a:b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Feature importance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6172200" y="3419856"/>
            <a:ext cx="1188720" cy="475488"/>
          </a:xfrm>
          <a:prstGeom prst="rect">
            <a:avLst/>
          </a:prstGeom>
          <a:solidFill>
            <a:srgbClr val="080D1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7452360" y="3419856"/>
            <a:ext cx="1188720" cy="475488"/>
          </a:xfrm>
          <a:prstGeom prst="rect">
            <a:avLst/>
          </a:prstGeom>
          <a:solidFill>
            <a:srgbClr val="080D1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2"/>
          <p:cNvSpPr/>
          <p:nvPr/>
        </p:nvSpPr>
        <p:spPr>
          <a:xfrm>
            <a:off x="6172200" y="341985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6172200" y="362102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8.1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7452360" y="341985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7452360" y="362102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0.85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6172200" y="3986784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Fast training · Explainable · Strong 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3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11887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3"/>
          <p:cNvSpPr/>
          <p:nvPr/>
        </p:nvSpPr>
        <p:spPr>
          <a:xfrm>
            <a:off x="23774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3"/>
          <p:cNvSpPr/>
          <p:nvPr/>
        </p:nvSpPr>
        <p:spPr>
          <a:xfrm>
            <a:off x="356616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475488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"/>
          <p:cNvSpPr/>
          <p:nvPr/>
        </p:nvSpPr>
        <p:spPr>
          <a:xfrm>
            <a:off x="594360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71323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3"/>
          <p:cNvSpPr/>
          <p:nvPr/>
        </p:nvSpPr>
        <p:spPr>
          <a:xfrm>
            <a:off x="83210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3"/>
          <p:cNvSpPr/>
          <p:nvPr/>
        </p:nvSpPr>
        <p:spPr>
          <a:xfrm>
            <a:off x="411474" y="201177"/>
            <a:ext cx="1688400" cy="2742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100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500" lIns="105500" spcFirstLastPara="1" rIns="105500" wrap="square" tIns="10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411474" y="201177"/>
            <a:ext cx="16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23"/>
              <a:buFont typeface="Calibri"/>
              <a:buNone/>
            </a:pPr>
            <a:r>
              <a:rPr b="1" i="0" lang="en-US" sz="92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0" i="0" sz="9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Training Pipeline &amp; Optimization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411480" y="1170432"/>
            <a:ext cx="3977640" cy="402336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3"/>
          <p:cNvSpPr/>
          <p:nvPr/>
        </p:nvSpPr>
        <p:spPr>
          <a:xfrm>
            <a:off x="502920" y="1234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Batch size: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1901952" y="12344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411480" y="1664208"/>
            <a:ext cx="3977640" cy="402336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3"/>
          <p:cNvSpPr/>
          <p:nvPr/>
        </p:nvSpPr>
        <p:spPr>
          <a:xfrm>
            <a:off x="502920" y="172821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Learning rate: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1901952" y="17282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1e-3  →  ReduceLROnPlateau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411480" y="2157984"/>
            <a:ext cx="3977640" cy="402336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502920" y="2221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Early stopping: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1901952" y="222199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Patience = 15 epochs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411480" y="2651760"/>
            <a:ext cx="3977640" cy="402336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3"/>
          <p:cNvSpPr/>
          <p:nvPr/>
        </p:nvSpPr>
        <p:spPr>
          <a:xfrm>
            <a:off x="502920" y="27157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Gradient clip: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1901952" y="27157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max norm = 1.0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3"/>
          <p:cNvSpPr/>
          <p:nvPr/>
        </p:nvSpPr>
        <p:spPr>
          <a:xfrm>
            <a:off x="411480" y="3145536"/>
            <a:ext cx="3977640" cy="402336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"/>
          <p:cNvSpPr/>
          <p:nvPr/>
        </p:nvSpPr>
        <p:spPr>
          <a:xfrm>
            <a:off x="502920" y="320954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Loss function: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/>
          <p:nvPr/>
        </p:nvSpPr>
        <p:spPr>
          <a:xfrm>
            <a:off x="1901952" y="320954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MSE + asymmetric penalty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411480" y="3639312"/>
            <a:ext cx="3977640" cy="402336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3"/>
          <p:cNvSpPr/>
          <p:nvPr/>
        </p:nvSpPr>
        <p:spPr>
          <a:xfrm>
            <a:off x="502920" y="37033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Validation: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1901952" y="3703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Per-engine 80/20 + GroupKFold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411480" y="4133088"/>
            <a:ext cx="3977640" cy="402336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3"/>
          <p:cNvSpPr/>
          <p:nvPr/>
        </p:nvSpPr>
        <p:spPr>
          <a:xfrm>
            <a:off x="502920" y="419709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Optimizer: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1901952" y="419709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AdamW  (weight decay 1e-4)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2" name="Google Shape;4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15568"/>
            <a:ext cx="4389000" cy="29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4572000" y="4160520"/>
            <a:ext cx="4389120" cy="566928"/>
          </a:xfrm>
          <a:prstGeom prst="rect">
            <a:avLst/>
          </a:prstGeom>
          <a:solidFill>
            <a:srgbClr val="111E3A"/>
          </a:solidFill>
          <a:ln cap="flat" cmpd="sng" w="95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4663440" y="4206240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⚡ Early Stopping triggered at epoch ~75  |  </a:t>
            </a: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Best weights restored automatically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4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4"/>
          <p:cNvSpPr/>
          <p:nvPr/>
        </p:nvSpPr>
        <p:spPr>
          <a:xfrm>
            <a:off x="411473" y="201178"/>
            <a:ext cx="1969500" cy="3201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28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075" lIns="123075" spcFirstLastPara="1" rIns="123075" wrap="square" tIns="12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4"/>
          <p:cNvSpPr/>
          <p:nvPr/>
        </p:nvSpPr>
        <p:spPr>
          <a:xfrm>
            <a:off x="411473" y="201178"/>
            <a:ext cx="1969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77"/>
              <a:buFont typeface="Calibri"/>
              <a:buNone/>
            </a:pPr>
            <a:r>
              <a:rPr b="1" i="0" lang="en-US" sz="1077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RESULTS &amp; EVALUATION</a:t>
            </a:r>
            <a:endParaRPr b="0" i="0" sz="10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Performance on NASA FD001 Test 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411480" y="1143000"/>
            <a:ext cx="1536192" cy="877824"/>
          </a:xfrm>
          <a:prstGeom prst="rect">
            <a:avLst/>
          </a:prstGeom>
          <a:solidFill>
            <a:srgbClr val="0D1730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4"/>
          <p:cNvSpPr/>
          <p:nvPr/>
        </p:nvSpPr>
        <p:spPr>
          <a:xfrm>
            <a:off x="411480" y="1188720"/>
            <a:ext cx="15361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6.8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411480" y="1645920"/>
            <a:ext cx="1536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2093976" y="1143000"/>
            <a:ext cx="1536192" cy="877824"/>
          </a:xfrm>
          <a:prstGeom prst="rect">
            <a:avLst/>
          </a:prstGeom>
          <a:solidFill>
            <a:srgbClr val="0D1730"/>
          </a:solidFill>
          <a:ln cap="flat" cmpd="sng" w="1015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4"/>
          <p:cNvSpPr/>
          <p:nvPr/>
        </p:nvSpPr>
        <p:spPr>
          <a:xfrm>
            <a:off x="2093976" y="1188720"/>
            <a:ext cx="15361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00B4A6"/>
                </a:solidFill>
                <a:latin typeface="Arial Black"/>
                <a:ea typeface="Arial Black"/>
                <a:cs typeface="Arial Black"/>
                <a:sym typeface="Arial Black"/>
              </a:rPr>
              <a:t>4.9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2093976" y="1645920"/>
            <a:ext cx="1536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3776472" y="1143000"/>
            <a:ext cx="1536192" cy="877824"/>
          </a:xfrm>
          <a:prstGeom prst="rect">
            <a:avLst/>
          </a:prstGeom>
          <a:solidFill>
            <a:srgbClr val="0D1730"/>
          </a:solidFill>
          <a:ln cap="flat" cmpd="sng" w="101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4"/>
          <p:cNvSpPr/>
          <p:nvPr/>
        </p:nvSpPr>
        <p:spPr>
          <a:xfrm>
            <a:off x="3776472" y="1188720"/>
            <a:ext cx="15361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0.91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3776472" y="1645920"/>
            <a:ext cx="1536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5458968" y="1143000"/>
            <a:ext cx="1536192" cy="877824"/>
          </a:xfrm>
          <a:prstGeom prst="rect">
            <a:avLst/>
          </a:prstGeom>
          <a:solidFill>
            <a:srgbClr val="0D1730"/>
          </a:solidFill>
          <a:ln cap="flat" cmpd="sng" w="101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4"/>
          <p:cNvSpPr/>
          <p:nvPr/>
        </p:nvSpPr>
        <p:spPr>
          <a:xfrm>
            <a:off x="5458968" y="1188720"/>
            <a:ext cx="15361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32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4"/>
          <p:cNvSpPr/>
          <p:nvPr/>
        </p:nvSpPr>
        <p:spPr>
          <a:xfrm>
            <a:off x="5458968" y="1645920"/>
            <a:ext cx="1536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IEEE Score 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7141464" y="1143000"/>
            <a:ext cx="1536192" cy="877824"/>
          </a:xfrm>
          <a:prstGeom prst="rect">
            <a:avLst/>
          </a:prstGeom>
          <a:solidFill>
            <a:srgbClr val="0D1730"/>
          </a:solidFill>
          <a:ln cap="flat" cmpd="sng" w="1015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4"/>
          <p:cNvSpPr/>
          <p:nvPr/>
        </p:nvSpPr>
        <p:spPr>
          <a:xfrm>
            <a:off x="7141464" y="1188720"/>
            <a:ext cx="15361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1A5CFF"/>
                </a:solidFill>
                <a:latin typeface="Arial Black"/>
                <a:ea typeface="Arial Black"/>
                <a:cs typeface="Arial Black"/>
                <a:sym typeface="Arial Black"/>
              </a:rPr>
              <a:t>93%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4"/>
          <p:cNvSpPr/>
          <p:nvPr/>
        </p:nvSpPr>
        <p:spPr>
          <a:xfrm>
            <a:off x="7141464" y="1645920"/>
            <a:ext cx="1536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Prog. Horizon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9" name="Google Shape;519;p24"/>
          <p:cNvGraphicFramePr/>
          <p:nvPr/>
        </p:nvGraphicFramePr>
        <p:xfrm>
          <a:off x="411480" y="2212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{52C78E05-868A-47F0-826F-100A92DABD54}</a:tableStyleId>
              </a:tblPr>
              <a:tblGrid>
                <a:gridCol w="1828800"/>
                <a:gridCol w="1371600"/>
                <a:gridCol w="1371600"/>
                <a:gridCol w="1371600"/>
                <a:gridCol w="146305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RMSE ↓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MAE ↓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R² ↑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IEEE Score ↓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Train Time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D4FF"/>
                          </a:solidFill>
                        </a:rPr>
                        <a:t>🥇 Transformer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D4FF"/>
                          </a:solidFill>
                        </a:rPr>
                        <a:t>6.8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D4FF"/>
                          </a:solidFill>
                        </a:rPr>
                        <a:t>4.9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D4FF"/>
                          </a:solidFill>
                        </a:rPr>
                        <a:t>0.91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D4FF"/>
                          </a:solidFill>
                        </a:rPr>
                        <a:t>32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D4FF"/>
                          </a:solidFill>
                        </a:rPr>
                        <a:t>160 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A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B4A6"/>
                          </a:solidFill>
                        </a:rPr>
                        <a:t>🥈 LSTM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A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B4A6"/>
                          </a:solidFill>
                        </a:rPr>
                        <a:t>7.2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A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B4A6"/>
                          </a:solidFill>
                        </a:rPr>
                        <a:t>5.1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A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B4A6"/>
                          </a:solidFill>
                        </a:rPr>
                        <a:t>0.88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A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B4A6"/>
                          </a:solidFill>
                        </a:rPr>
                        <a:t>45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A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B4A6"/>
                          </a:solidFill>
                        </a:rPr>
                        <a:t>180 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D166"/>
                          </a:solidFill>
                        </a:rPr>
                        <a:t>🥉 XGBoost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E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D166"/>
                          </a:solidFill>
                        </a:rPr>
                        <a:t>8.1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E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D166"/>
                          </a:solidFill>
                        </a:rPr>
                        <a:t>6.2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E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D166"/>
                          </a:solidFill>
                        </a:rPr>
                        <a:t>0.85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E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D166"/>
                          </a:solidFill>
                        </a:rPr>
                        <a:t>58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E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D166"/>
                          </a:solidFill>
                        </a:rPr>
                        <a:t>45 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2E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E3A"/>
                    </a:solidFill>
                  </a:tcPr>
                </a:tc>
              </a:tr>
            </a:tbl>
          </a:graphicData>
        </a:graphic>
      </p:graphicFrame>
      <p:sp>
        <p:nvSpPr>
          <p:cNvPr id="520" name="Google Shape;520;p24"/>
          <p:cNvSpPr/>
          <p:nvPr/>
        </p:nvSpPr>
        <p:spPr>
          <a:xfrm>
            <a:off x="411480" y="429768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✦  Transformer selected as primary production model  |  All metrics on FD001 held-out test 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5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5"/>
          <p:cNvSpPr/>
          <p:nvPr/>
        </p:nvSpPr>
        <p:spPr>
          <a:xfrm>
            <a:off x="11887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5"/>
          <p:cNvSpPr/>
          <p:nvPr/>
        </p:nvSpPr>
        <p:spPr>
          <a:xfrm>
            <a:off x="23774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356616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5"/>
          <p:cNvSpPr/>
          <p:nvPr/>
        </p:nvSpPr>
        <p:spPr>
          <a:xfrm>
            <a:off x="475488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5"/>
          <p:cNvSpPr/>
          <p:nvPr/>
        </p:nvSpPr>
        <p:spPr>
          <a:xfrm>
            <a:off x="594360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5"/>
          <p:cNvSpPr/>
          <p:nvPr/>
        </p:nvSpPr>
        <p:spPr>
          <a:xfrm>
            <a:off x="71323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5"/>
          <p:cNvSpPr/>
          <p:nvPr/>
        </p:nvSpPr>
        <p:spPr>
          <a:xfrm>
            <a:off x="83210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5"/>
          <p:cNvSpPr/>
          <p:nvPr/>
        </p:nvSpPr>
        <p:spPr>
          <a:xfrm>
            <a:off x="411472" y="201179"/>
            <a:ext cx="2138100" cy="3474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39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3600" lIns="133600" spcFirstLastPara="1" rIns="133600" wrap="square" tIns="133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5"/>
          <p:cNvSpPr/>
          <p:nvPr/>
        </p:nvSpPr>
        <p:spPr>
          <a:xfrm>
            <a:off x="411472" y="201179"/>
            <a:ext cx="2138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69"/>
              <a:buFont typeface="Calibri"/>
              <a:buNone/>
            </a:pPr>
            <a:r>
              <a:rPr b="1" i="0" lang="en-US" sz="1169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SYSTEM INTERFACE</a:t>
            </a:r>
            <a:endParaRPr b="0" i="0" sz="11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Engine Health Monitoring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411480" y="1197875"/>
            <a:ext cx="8321100" cy="347400"/>
          </a:xfrm>
          <a:prstGeom prst="rect">
            <a:avLst/>
          </a:prstGeom>
          <a:solidFill>
            <a:srgbClr val="111E3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5"/>
          <p:cNvSpPr/>
          <p:nvPr/>
        </p:nvSpPr>
        <p:spPr>
          <a:xfrm>
            <a:off x="502920" y="1225307"/>
            <a:ext cx="80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⚙  YAQZA  |  Engine Monitor  |  Predict RUL  |  Fleet View  |  Alerts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411480" y="1572768"/>
            <a:ext cx="1920240" cy="73152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5"/>
          <p:cNvSpPr/>
          <p:nvPr/>
        </p:nvSpPr>
        <p:spPr>
          <a:xfrm>
            <a:off x="411480" y="16002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RUL PREDICTION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411480" y="181051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72 cycles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2514600" y="1572768"/>
            <a:ext cx="1920240" cy="73152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5"/>
          <p:cNvSpPr/>
          <p:nvPr/>
        </p:nvSpPr>
        <p:spPr>
          <a:xfrm>
            <a:off x="2514600" y="16002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HEALTH STATUS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2514600" y="181051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WARNING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4617720" y="1572768"/>
            <a:ext cx="1920240" cy="73152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5"/>
          <p:cNvSpPr/>
          <p:nvPr/>
        </p:nvSpPr>
        <p:spPr>
          <a:xfrm>
            <a:off x="4617720" y="16002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ENGINES ONLINE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5"/>
          <p:cNvSpPr/>
          <p:nvPr/>
        </p:nvSpPr>
        <p:spPr>
          <a:xfrm>
            <a:off x="4617720" y="181051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48 / 50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5"/>
          <p:cNvSpPr/>
          <p:nvPr/>
        </p:nvSpPr>
        <p:spPr>
          <a:xfrm>
            <a:off x="6720840" y="1572768"/>
            <a:ext cx="1920240" cy="73152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5"/>
          <p:cNvSpPr/>
          <p:nvPr/>
        </p:nvSpPr>
        <p:spPr>
          <a:xfrm>
            <a:off x="6720840" y="16002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CRITICAL ALERTS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6720840" y="181051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2 engines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411480" y="2414016"/>
            <a:ext cx="2578500" cy="23958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5"/>
          <p:cNvSpPr/>
          <p:nvPr/>
        </p:nvSpPr>
        <p:spPr>
          <a:xfrm>
            <a:off x="457200" y="2468880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Engine 047 — RUL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-396403" y="3012736"/>
            <a:ext cx="40233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993"/>
              <a:buFont typeface="Arial Black"/>
              <a:buNone/>
            </a:pPr>
            <a:r>
              <a:rPr b="1" i="0" lang="en-US" sz="4993" u="none" cap="none" strike="noStrike">
                <a:solidFill>
                  <a:srgbClr val="FFD166"/>
                </a:solidFill>
                <a:latin typeface="Arial Black"/>
                <a:ea typeface="Arial Black"/>
                <a:cs typeface="Arial Black"/>
                <a:sym typeface="Arial Black"/>
              </a:rPr>
              <a:t>72</a:t>
            </a:r>
            <a:endParaRPr b="0" i="0" sz="49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-396403" y="3897306"/>
            <a:ext cx="40233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cycles remaining</a:t>
            </a:r>
            <a:endParaRPr b="0" i="0" sz="14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411480" y="4224528"/>
            <a:ext cx="25786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⚠ SCHEDULE MAINTENANCE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6" name="Google Shape;5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0672" y="2414016"/>
            <a:ext cx="5641848" cy="2395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6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6"/>
          <p:cNvSpPr/>
          <p:nvPr/>
        </p:nvSpPr>
        <p:spPr>
          <a:xfrm>
            <a:off x="411472" y="201179"/>
            <a:ext cx="2532300" cy="4116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647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8250" lIns="158250" spcFirstLastPara="1" rIns="158250" wrap="square" tIns="15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6"/>
          <p:cNvSpPr/>
          <p:nvPr/>
        </p:nvSpPr>
        <p:spPr>
          <a:xfrm>
            <a:off x="411472" y="201179"/>
            <a:ext cx="2532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85"/>
              <a:buFont typeface="Calibri"/>
              <a:buNone/>
            </a:pPr>
            <a:r>
              <a:rPr b="1" i="0" lang="en-US" sz="1385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IMPACT &amp; BENEFITS</a:t>
            </a:r>
            <a:endParaRPr b="0" i="0" sz="13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411450" y="830875"/>
            <a:ext cx="83211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Measurable Value Across the Aviation Ecosystem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411455" y="1555070"/>
            <a:ext cx="2651700" cy="155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7" name="Google Shape;5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47" y="1609875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6"/>
          <p:cNvSpPr/>
          <p:nvPr/>
        </p:nvSpPr>
        <p:spPr>
          <a:xfrm>
            <a:off x="1097255" y="1737950"/>
            <a:ext cx="187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 Reduction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539475" y="2030450"/>
            <a:ext cx="25236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↓ 40% MRO costs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Data-driven scheduling replaces blanket overhauls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3246095" y="1555070"/>
            <a:ext cx="2651700" cy="155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1" name="Google Shape;57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0687" y="171966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6"/>
          <p:cNvSpPr/>
          <p:nvPr/>
        </p:nvSpPr>
        <p:spPr>
          <a:xfrm>
            <a:off x="3931895" y="1737950"/>
            <a:ext cx="187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 Improvement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3374098" y="2030450"/>
            <a:ext cx="28347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Detect failure 48–72 h early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Zero undetected critical faults goal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6080735" y="1555070"/>
            <a:ext cx="2651700" cy="155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5" name="Google Shape;5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5327" y="171966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6"/>
          <p:cNvSpPr/>
          <p:nvPr/>
        </p:nvSpPr>
        <p:spPr>
          <a:xfrm>
            <a:off x="6766535" y="1737950"/>
            <a:ext cx="187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 Downtime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/>
          <p:nvPr/>
        </p:nvSpPr>
        <p:spPr>
          <a:xfrm>
            <a:off x="6208751" y="2195150"/>
            <a:ext cx="239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↓ 85% unplanned AOG events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Optimised slot scheduling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6"/>
          <p:cNvSpPr/>
          <p:nvPr/>
        </p:nvSpPr>
        <p:spPr>
          <a:xfrm>
            <a:off x="411455" y="3292430"/>
            <a:ext cx="2651700" cy="155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9" name="Google Shape;57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47" y="341581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6"/>
          <p:cNvSpPr/>
          <p:nvPr/>
        </p:nvSpPr>
        <p:spPr>
          <a:xfrm>
            <a:off x="1097255" y="3475310"/>
            <a:ext cx="187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Fleet Scalability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6"/>
          <p:cNvSpPr/>
          <p:nvPr/>
        </p:nvSpPr>
        <p:spPr>
          <a:xfrm>
            <a:off x="539471" y="3932510"/>
            <a:ext cx="239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Monitor entire fleet simultaneously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Cloud-native architecture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3246095" y="3292430"/>
            <a:ext cx="2651700" cy="155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3" name="Google Shape;58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0687" y="345702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6"/>
          <p:cNvSpPr/>
          <p:nvPr/>
        </p:nvSpPr>
        <p:spPr>
          <a:xfrm>
            <a:off x="3931895" y="3475310"/>
            <a:ext cx="187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Smarter Planning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/>
          <p:nvPr/>
        </p:nvSpPr>
        <p:spPr>
          <a:xfrm>
            <a:off x="3374111" y="3932510"/>
            <a:ext cx="239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Maintenance aligned to actual wear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Parts inventory optimised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6080735" y="3292430"/>
            <a:ext cx="2651700" cy="155460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7" name="Google Shape;58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45327" y="345702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6"/>
          <p:cNvSpPr/>
          <p:nvPr/>
        </p:nvSpPr>
        <p:spPr>
          <a:xfrm>
            <a:off x="6766535" y="3475310"/>
            <a:ext cx="187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Regulatory Ready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6208751" y="3932510"/>
            <a:ext cx="239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Aligned with EASA / FAA predictive maintenance guidelines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7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1188720" y="0"/>
            <a:ext cx="4500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23774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356616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475488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594360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713232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8321040" y="0"/>
            <a:ext cx="4572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411483" y="201175"/>
            <a:ext cx="2251500" cy="365700"/>
          </a:xfrm>
          <a:prstGeom prst="rect">
            <a:avLst/>
          </a:prstGeom>
          <a:solidFill>
            <a:srgbClr val="1A5CFF">
              <a:alpha val="74901"/>
            </a:srgbClr>
          </a:solidFill>
          <a:ln cap="flat" cmpd="sng" w="14650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700" lIns="140700" spcFirstLastPara="1" rIns="140700" wrap="square" tIns="140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411475" y="201186"/>
            <a:ext cx="22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31"/>
              <a:buFont typeface="Calibri"/>
              <a:buNone/>
            </a:pPr>
            <a:r>
              <a:rPr b="1" i="0" lang="en-US" sz="1231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FUTURE ROADMAP</a:t>
            </a:r>
            <a:endParaRPr b="0" i="0" sz="12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411480" y="5669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What's Next for Yaqza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411480" y="1170432"/>
            <a:ext cx="4023360" cy="109728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7" name="Google Shape;6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15361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7"/>
          <p:cNvSpPr/>
          <p:nvPr/>
        </p:nvSpPr>
        <p:spPr>
          <a:xfrm>
            <a:off x="1024128" y="126187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Real-Time IoT Streaming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1024128" y="1591056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Connect live engine sensors via MQTT/Kafka for instant RUL updates during flight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4178808" y="1261872"/>
            <a:ext cx="201168" cy="20116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4178808" y="1261872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4663440" y="1170432"/>
            <a:ext cx="4023360" cy="109728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3" name="Google Shape;61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3168" y="15361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7"/>
          <p:cNvSpPr/>
          <p:nvPr/>
        </p:nvSpPr>
        <p:spPr>
          <a:xfrm>
            <a:off x="5276088" y="1261872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Cloud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5276088" y="1591056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AWS / Azure microservices with auto-scaling for fleet-wide concurrent 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8430768" y="1261872"/>
            <a:ext cx="201168" cy="20116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7"/>
          <p:cNvSpPr/>
          <p:nvPr/>
        </p:nvSpPr>
        <p:spPr>
          <a:xfrm>
            <a:off x="8430768" y="12618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411480" y="2432304"/>
            <a:ext cx="4023360" cy="109728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9" name="Google Shape;6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08" y="279806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7"/>
          <p:cNvSpPr/>
          <p:nvPr/>
        </p:nvSpPr>
        <p:spPr>
          <a:xfrm>
            <a:off x="1024128" y="252374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Explainable AI (XAI)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7"/>
          <p:cNvSpPr/>
          <p:nvPr/>
        </p:nvSpPr>
        <p:spPr>
          <a:xfrm>
            <a:off x="1024128" y="2852928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SHAP values &amp; attention maps to explain each prediction to maintenance engineers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/>
          <p:nvPr/>
        </p:nvSpPr>
        <p:spPr>
          <a:xfrm>
            <a:off x="4178808" y="2523744"/>
            <a:ext cx="201168" cy="20116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4178808" y="252374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4663440" y="2432304"/>
            <a:ext cx="4023360" cy="109728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5" name="Google Shape;62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3168" y="279806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7"/>
          <p:cNvSpPr/>
          <p:nvPr/>
        </p:nvSpPr>
        <p:spPr>
          <a:xfrm>
            <a:off x="5276088" y="252374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Uncertainty Quantification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7"/>
          <p:cNvSpPr/>
          <p:nvPr/>
        </p:nvSpPr>
        <p:spPr>
          <a:xfrm>
            <a:off x="5276088" y="2852928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Bayesian LSTM outputs confidence intervals for safer maintenance decisions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7"/>
          <p:cNvSpPr/>
          <p:nvPr/>
        </p:nvSpPr>
        <p:spPr>
          <a:xfrm>
            <a:off x="8430768" y="2523744"/>
            <a:ext cx="201168" cy="20116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7"/>
          <p:cNvSpPr/>
          <p:nvPr/>
        </p:nvSpPr>
        <p:spPr>
          <a:xfrm>
            <a:off x="8430768" y="252374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7"/>
          <p:cNvSpPr/>
          <p:nvPr/>
        </p:nvSpPr>
        <p:spPr>
          <a:xfrm>
            <a:off x="411480" y="3694176"/>
            <a:ext cx="4023360" cy="109728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1" name="Google Shape;63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208" y="40599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7"/>
          <p:cNvSpPr/>
          <p:nvPr/>
        </p:nvSpPr>
        <p:spPr>
          <a:xfrm>
            <a:off x="1024128" y="3785616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Anomaly Detection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7"/>
          <p:cNvSpPr/>
          <p:nvPr/>
        </p:nvSpPr>
        <p:spPr>
          <a:xfrm>
            <a:off x="1024128" y="411480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Unsupervised anomaly module catches unknown failure modes beyond training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7"/>
          <p:cNvSpPr/>
          <p:nvPr/>
        </p:nvSpPr>
        <p:spPr>
          <a:xfrm>
            <a:off x="4178808" y="3785616"/>
            <a:ext cx="201168" cy="20116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4178808" y="37856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7"/>
          <p:cNvSpPr/>
          <p:nvPr/>
        </p:nvSpPr>
        <p:spPr>
          <a:xfrm>
            <a:off x="4663440" y="3694176"/>
            <a:ext cx="4023360" cy="1097280"/>
          </a:xfrm>
          <a:prstGeom prst="rect">
            <a:avLst/>
          </a:prstGeom>
          <a:solidFill>
            <a:srgbClr val="0D1730"/>
          </a:solidFill>
          <a:ln cap="flat" cmpd="sng" w="9525">
            <a:solidFill>
              <a:srgbClr val="1A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7" name="Google Shape;637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73168" y="40599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7"/>
          <p:cNvSpPr/>
          <p:nvPr/>
        </p:nvSpPr>
        <p:spPr>
          <a:xfrm>
            <a:off x="5276088" y="3785616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Airline System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7"/>
          <p:cNvSpPr/>
          <p:nvPr/>
        </p:nvSpPr>
        <p:spPr>
          <a:xfrm>
            <a:off x="5276088" y="411480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Direct API handshake with AMOS, AIRMAN, and SITA MRO management platforms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/>
          <p:nvPr/>
        </p:nvSpPr>
        <p:spPr>
          <a:xfrm>
            <a:off x="8430768" y="3785616"/>
            <a:ext cx="201168" cy="20116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8430768" y="37856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D1A"/>
              </a:buClr>
              <a:buSzPts val="800"/>
              <a:buFont typeface="Arial Black"/>
              <a:buNone/>
            </a:pPr>
            <a:r>
              <a:rPr b="1" i="0" lang="en-US" sz="800" u="none" cap="none" strike="noStrike">
                <a:solidFill>
                  <a:srgbClr val="080D1A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8"/>
          <p:cNvSpPr/>
          <p:nvPr/>
        </p:nvSpPr>
        <p:spPr>
          <a:xfrm>
            <a:off x="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8"/>
          <p:cNvSpPr/>
          <p:nvPr/>
        </p:nvSpPr>
        <p:spPr>
          <a:xfrm>
            <a:off x="0" y="0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82296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8"/>
          <p:cNvSpPr/>
          <p:nvPr/>
        </p:nvSpPr>
        <p:spPr>
          <a:xfrm>
            <a:off x="0" y="475488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8"/>
          <p:cNvSpPr/>
          <p:nvPr/>
        </p:nvSpPr>
        <p:spPr>
          <a:xfrm>
            <a:off x="164592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0" y="950976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8"/>
          <p:cNvSpPr/>
          <p:nvPr/>
        </p:nvSpPr>
        <p:spPr>
          <a:xfrm>
            <a:off x="246888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0" y="1426464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8"/>
          <p:cNvSpPr/>
          <p:nvPr/>
        </p:nvSpPr>
        <p:spPr>
          <a:xfrm>
            <a:off x="329184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8"/>
          <p:cNvSpPr/>
          <p:nvPr/>
        </p:nvSpPr>
        <p:spPr>
          <a:xfrm>
            <a:off x="0" y="1901952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>
            <a:off x="411480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8"/>
          <p:cNvSpPr/>
          <p:nvPr/>
        </p:nvSpPr>
        <p:spPr>
          <a:xfrm>
            <a:off x="0" y="2377440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8"/>
          <p:cNvSpPr/>
          <p:nvPr/>
        </p:nvSpPr>
        <p:spPr>
          <a:xfrm>
            <a:off x="493776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8"/>
          <p:cNvSpPr/>
          <p:nvPr/>
        </p:nvSpPr>
        <p:spPr>
          <a:xfrm>
            <a:off x="0" y="2852928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576072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8"/>
          <p:cNvSpPr/>
          <p:nvPr/>
        </p:nvSpPr>
        <p:spPr>
          <a:xfrm>
            <a:off x="0" y="3328416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8"/>
          <p:cNvSpPr/>
          <p:nvPr/>
        </p:nvSpPr>
        <p:spPr>
          <a:xfrm>
            <a:off x="658368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>
            <a:off x="0" y="3803904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740664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8"/>
          <p:cNvSpPr/>
          <p:nvPr/>
        </p:nvSpPr>
        <p:spPr>
          <a:xfrm>
            <a:off x="0" y="4279392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8"/>
          <p:cNvSpPr/>
          <p:nvPr/>
        </p:nvSpPr>
        <p:spPr>
          <a:xfrm>
            <a:off x="822960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8"/>
          <p:cNvSpPr/>
          <p:nvPr/>
        </p:nvSpPr>
        <p:spPr>
          <a:xfrm>
            <a:off x="0" y="4754880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>
            <a:off x="9052560" y="0"/>
            <a:ext cx="3658" cy="5143500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8"/>
          <p:cNvSpPr/>
          <p:nvPr/>
        </p:nvSpPr>
        <p:spPr>
          <a:xfrm>
            <a:off x="0" y="5230368"/>
            <a:ext cx="9144000" cy="3658"/>
          </a:xfrm>
          <a:prstGeom prst="rect">
            <a:avLst/>
          </a:prstGeom>
          <a:solidFill>
            <a:srgbClr val="1A2E4A"/>
          </a:solidFill>
          <a:ln cap="flat" cmpd="sng" w="12700">
            <a:solidFill>
              <a:srgbClr val="1A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8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11E3A">
              <a:alpha val="74901"/>
            </a:srgbClr>
          </a:solidFill>
          <a:ln cap="flat" cmpd="sng" w="12700">
            <a:solidFill>
              <a:srgbClr val="11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8"/>
          <p:cNvSpPr/>
          <p:nvPr/>
        </p:nvSpPr>
        <p:spPr>
          <a:xfrm>
            <a:off x="7050024" y="2551176"/>
            <a:ext cx="1307592" cy="18288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8"/>
          <p:cNvSpPr/>
          <p:nvPr/>
        </p:nvSpPr>
        <p:spPr>
          <a:xfrm>
            <a:off x="7023073" y="2648742"/>
            <a:ext cx="1132408" cy="634182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8"/>
          <p:cNvSpPr/>
          <p:nvPr/>
        </p:nvSpPr>
        <p:spPr>
          <a:xfrm>
            <a:off x="6949440" y="2720166"/>
            <a:ext cx="653796" cy="1098436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8"/>
          <p:cNvSpPr/>
          <p:nvPr/>
        </p:nvSpPr>
        <p:spPr>
          <a:xfrm>
            <a:off x="6848856" y="2746309"/>
            <a:ext cx="18288" cy="1268364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8"/>
          <p:cNvSpPr/>
          <p:nvPr/>
        </p:nvSpPr>
        <p:spPr>
          <a:xfrm>
            <a:off x="6094476" y="2720166"/>
            <a:ext cx="653796" cy="1098436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8"/>
          <p:cNvSpPr/>
          <p:nvPr/>
        </p:nvSpPr>
        <p:spPr>
          <a:xfrm>
            <a:off x="5542232" y="2648742"/>
            <a:ext cx="1132408" cy="634182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8"/>
          <p:cNvSpPr/>
          <p:nvPr/>
        </p:nvSpPr>
        <p:spPr>
          <a:xfrm>
            <a:off x="5340096" y="2551176"/>
            <a:ext cx="1307592" cy="18288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8"/>
          <p:cNvSpPr/>
          <p:nvPr/>
        </p:nvSpPr>
        <p:spPr>
          <a:xfrm>
            <a:off x="5542232" y="1819427"/>
            <a:ext cx="1132408" cy="634182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8"/>
          <p:cNvSpPr/>
          <p:nvPr/>
        </p:nvSpPr>
        <p:spPr>
          <a:xfrm>
            <a:off x="6094476" y="1283750"/>
            <a:ext cx="653796" cy="1098436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8"/>
          <p:cNvSpPr/>
          <p:nvPr/>
        </p:nvSpPr>
        <p:spPr>
          <a:xfrm>
            <a:off x="6848856" y="1087679"/>
            <a:ext cx="18288" cy="1268364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6949440" y="1283750"/>
            <a:ext cx="653796" cy="1098436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8"/>
          <p:cNvSpPr/>
          <p:nvPr/>
        </p:nvSpPr>
        <p:spPr>
          <a:xfrm>
            <a:off x="7023073" y="1819427"/>
            <a:ext cx="1132408" cy="634182"/>
          </a:xfrm>
          <a:prstGeom prst="rect">
            <a:avLst/>
          </a:prstGeom>
          <a:solidFill>
            <a:srgbClr val="0099CC">
              <a:alpha val="45098"/>
            </a:srgbClr>
          </a:solidFill>
          <a:ln cap="flat" cmpd="sng" w="9525">
            <a:solidFill>
              <a:srgbClr val="0099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8"/>
          <p:cNvSpPr/>
          <p:nvPr/>
        </p:nvSpPr>
        <p:spPr>
          <a:xfrm>
            <a:off x="365760" y="457200"/>
            <a:ext cx="4114800" cy="777240"/>
          </a:xfrm>
          <a:prstGeom prst="rect">
            <a:avLst/>
          </a:prstGeom>
          <a:noFill/>
          <a:ln>
            <a:noFill/>
          </a:ln>
          <a:effectLst>
            <a:outerShdw blurRad="254000" rotWithShape="0" algn="bl" dir="8100000" dist="50800">
              <a:srgbClr val="00D4FF">
                <a:alpha val="2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8"/>
          <p:cNvSpPr/>
          <p:nvPr/>
        </p:nvSpPr>
        <p:spPr>
          <a:xfrm>
            <a:off x="365760" y="1170432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8"/>
          <p:cNvSpPr/>
          <p:nvPr/>
        </p:nvSpPr>
        <p:spPr>
          <a:xfrm>
            <a:off x="365760" y="18288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/>
          <p:nvPr/>
        </p:nvSpPr>
        <p:spPr>
          <a:xfrm>
            <a:off x="365760" y="2331720"/>
            <a:ext cx="1828800" cy="3200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8"/>
          <p:cNvSpPr/>
          <p:nvPr/>
        </p:nvSpPr>
        <p:spPr>
          <a:xfrm>
            <a:off x="365760" y="248716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8"/>
          <p:cNvSpPr/>
          <p:nvPr/>
        </p:nvSpPr>
        <p:spPr>
          <a:xfrm>
            <a:off x="460860" y="3027013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Basmala Eltabakh </a:t>
            </a:r>
            <a:endParaRPr sz="1100">
              <a:solidFill>
                <a:srgbClr val="A8C0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Aya Yasser</a:t>
            </a:r>
            <a:endParaRPr sz="1100">
              <a:solidFill>
                <a:srgbClr val="A8C0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Ahmed Badawy</a:t>
            </a:r>
            <a:endParaRPr sz="1100">
              <a:solidFill>
                <a:srgbClr val="A8C0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Esraa Morsy</a:t>
            </a:r>
            <a:endParaRPr sz="1100">
              <a:solidFill>
                <a:srgbClr val="A8C0D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8C0D6"/>
                </a:solidFill>
                <a:latin typeface="Calibri"/>
                <a:ea typeface="Calibri"/>
                <a:cs typeface="Calibri"/>
                <a:sym typeface="Calibri"/>
              </a:rPr>
              <a:t>Omar Abdullah</a:t>
            </a:r>
            <a:endParaRPr sz="1100">
              <a:solidFill>
                <a:srgbClr val="A8C0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8"/>
          <p:cNvSpPr/>
          <p:nvPr/>
        </p:nvSpPr>
        <p:spPr>
          <a:xfrm>
            <a:off x="325385" y="3677723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Repository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325372" y="3978568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1100"/>
              <a:buFont typeface="Calibri"/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Dashboard Live Demo</a:t>
            </a:r>
            <a:endParaRPr b="0" i="0" sz="1100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8"/>
          <p:cNvSpPr/>
          <p:nvPr/>
        </p:nvSpPr>
        <p:spPr>
          <a:xfrm>
            <a:off x="0" y="4617720"/>
            <a:ext cx="4572000" cy="525780"/>
          </a:xfrm>
          <a:prstGeom prst="rect">
            <a:avLst/>
          </a:prstGeom>
          <a:solidFill>
            <a:srgbClr val="00D4FF">
              <a:alpha val="14901"/>
            </a:srgbClr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8"/>
          <p:cNvSpPr/>
          <p:nvPr/>
        </p:nvSpPr>
        <p:spPr>
          <a:xfrm>
            <a:off x="91440" y="4645152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يقظة  ·  Yaqza  ·  AI-Powered Predictive Maintenance  ·  NASA CMAPSS  ·  202</a:t>
            </a:r>
            <a:r>
              <a:rPr lang="en-US" sz="900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